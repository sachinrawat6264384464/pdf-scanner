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noFill/>
          <a:ln w="381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10515600" cy="2011680"/>
          </a:xfrm>
          <a:prstGeom prst="round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4884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Bharat Suraksha AI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02336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B3D91"/>
                </a:solidFill>
                <a:latin typeface="Calibri"/>
              </a:defRPr>
            </a:pPr>
            <a:r>
              <a:t>Deepfake Voice Scam Detection + NyayaMitra Legal Chatbot (India Focused)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141414"/>
                </a:solidFill>
                <a:latin typeface="Calibri"/>
              </a:defRPr>
            </a:pPr>
            <a:r>
              <a:t>AI for Bharat | Hack2Skill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noFill/>
          <a:ln w="381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896112"/>
            <a:ext cx="12188952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FFFFFF"/>
                </a:solidFill>
                <a:latin typeface="Calibri"/>
              </a:defRPr>
            </a:pPr>
            <a:r>
              <a:t>AI for Bharat | Bharat Suraksha AI Suite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8813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41732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India is facing a rapid rise in cyber fraud and scam calls.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Scammers use AI voice cloning (deepfake audio) to impersonate family, police, or bank officials.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Victims struggle to identify fraud and do not know legal reporting steps.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noFill/>
          <a:ln w="381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Proposed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896112"/>
            <a:ext cx="12188952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FFFFFF"/>
                </a:solidFill>
                <a:latin typeface="Calibri"/>
              </a:defRPr>
            </a:pPr>
            <a:r>
              <a:t>AI for Bharat | Bharat Suraksha AI Suite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8813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41732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1414"/>
                </a:solidFill>
                <a:latin typeface="Calibri"/>
              </a:defRPr>
            </a:pPr>
            <a:r>
              <a:t>Unified Platform:</a:t>
            </a:r>
          </a:p>
          <a:p>
            <a:pPr lvl="1">
              <a:defRPr sz="2000">
                <a:solidFill>
                  <a:srgbClr val="141414"/>
                </a:solidFill>
                <a:latin typeface="Calibri"/>
              </a:defRPr>
            </a:pPr>
            <a:r>
              <a:t>Detect scam calls + provide legal action support</a:t>
            </a:r>
          </a:p>
          <a:p>
            <a:pPr>
              <a:defRPr sz="2400" b="1">
                <a:solidFill>
                  <a:srgbClr val="141414"/>
                </a:solidFill>
                <a:latin typeface="Calibri"/>
              </a:defRPr>
            </a:pPr>
            <a:r>
              <a:t>Two Core Modules:</a:t>
            </a:r>
          </a:p>
          <a:p>
            <a:pPr lvl="1">
              <a:defRPr sz="2000">
                <a:solidFill>
                  <a:srgbClr val="141414"/>
                </a:solidFill>
                <a:latin typeface="Calibri"/>
              </a:defRPr>
            </a:pPr>
            <a:r>
              <a:t>VoiceShield AI (Detection)</a:t>
            </a:r>
          </a:p>
          <a:p>
            <a:pPr lvl="1">
              <a:defRPr sz="2000">
                <a:solidFill>
                  <a:srgbClr val="141414"/>
                </a:solidFill>
                <a:latin typeface="Calibri"/>
              </a:defRPr>
            </a:pPr>
            <a:r>
              <a:t>NyayaMitra AI (Legal Chatbot + Complaint Drafting)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Supports Hindi-English (Hinglish) for Bharat readiness.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noFill/>
          <a:ln w="381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Module 1: VoiceShield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896112"/>
            <a:ext cx="12188952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FFFFFF"/>
                </a:solidFill>
                <a:latin typeface="Calibri"/>
              </a:defRPr>
            </a:pPr>
            <a:r>
              <a:t>AI for Bharat | Bharat Suraksha AI Suite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8813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41732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Upload call recordings / WhatsApp voice notes.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Deepfake voice probability score (0-100).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Scam intent probability score (0-100).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Speech-to-text transcription (Hindi-English).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Suspicious timestamp detection (chunk-level scoring).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Final report + safety recommendations.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noFill/>
          <a:ln w="381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Module 2: NyayaMitra AI (Chatbot)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896112"/>
            <a:ext cx="12188952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FFFFFF"/>
                </a:solidFill>
                <a:latin typeface="Calibri"/>
              </a:defRPr>
            </a:pPr>
            <a:r>
              <a:t>AI for Bharat | Bharat Suraksha AI Suite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8813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41732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Legal chatbot for manual user queries anytime.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Step-by-step guidance for FIR and cybercrime complaint filing.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Auto complaint draft generator (FIR, Cybercrime, Bank, Consumer).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RAG-based trusted answers using Indian law and government sources.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noFill/>
          <a:ln w="381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System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896112"/>
            <a:ext cx="12188952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FFFFFF"/>
                </a:solidFill>
                <a:latin typeface="Calibri"/>
              </a:defRPr>
            </a:pPr>
            <a:r>
              <a:t>AI for Bharat | Bharat Suraksha AI Suite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8813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41732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1) Upload audio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2) Secure storage (S3 / DB metadata)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3) Preprocessing (noise reduction + chunking)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4) Speech-to-text transcription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5) Deepfake detection inference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6) Scam intent NLP classification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7) Suspicious timestamp generation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8) Final report + complaint drafting via NyayaMitra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noFill/>
          <a:ln w="381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AI / ML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896112"/>
            <a:ext cx="12188952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FFFFFF"/>
                </a:solidFill>
                <a:latin typeface="Calibri"/>
              </a:defRPr>
            </a:pPr>
            <a:r>
              <a:t>AI for Bharat | Bharat Suraksha AI Suite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8813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41732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1414"/>
                </a:solidFill>
                <a:latin typeface="Calibri"/>
              </a:defRPr>
            </a:pPr>
            <a:r>
              <a:t>Deepfake Detection:</a:t>
            </a:r>
          </a:p>
          <a:p>
            <a:pPr lvl="1">
              <a:defRPr sz="2000">
                <a:solidFill>
                  <a:srgbClr val="141414"/>
                </a:solidFill>
                <a:latin typeface="Calibri"/>
              </a:defRPr>
            </a:pPr>
            <a:r>
              <a:t>Wav2Vec2 embeddings + CNN/Transformer classifier</a:t>
            </a:r>
          </a:p>
          <a:p>
            <a:pPr lvl="1">
              <a:defRPr sz="2000">
                <a:solidFill>
                  <a:srgbClr val="141414"/>
                </a:solidFill>
                <a:latin typeface="Calibri"/>
              </a:defRPr>
            </a:pPr>
            <a:r>
              <a:t>Spectrogram feature extraction</a:t>
            </a:r>
          </a:p>
          <a:p>
            <a:pPr>
              <a:defRPr sz="2400" b="1">
                <a:solidFill>
                  <a:srgbClr val="141414"/>
                </a:solidFill>
                <a:latin typeface="Calibri"/>
              </a:defRPr>
            </a:pPr>
            <a:r>
              <a:t>Scam Intent Detection:</a:t>
            </a:r>
          </a:p>
          <a:p>
            <a:pPr lvl="1">
              <a:defRPr sz="2000">
                <a:solidFill>
                  <a:srgbClr val="141414"/>
                </a:solidFill>
                <a:latin typeface="Calibri"/>
              </a:defRPr>
            </a:pPr>
            <a:r>
              <a:t>mBERT / IndicBERT fine-tuned classifier</a:t>
            </a:r>
          </a:p>
          <a:p>
            <a:pPr lvl="1">
              <a:defRPr sz="2000">
                <a:solidFill>
                  <a:srgbClr val="141414"/>
                </a:solidFill>
                <a:latin typeface="Calibri"/>
              </a:defRPr>
            </a:pPr>
            <a:r>
              <a:t>Keyword + semantic detection</a:t>
            </a:r>
          </a:p>
          <a:p>
            <a:pPr>
              <a:defRPr sz="2400" b="1">
                <a:solidFill>
                  <a:srgbClr val="141414"/>
                </a:solidFill>
                <a:latin typeface="Calibri"/>
              </a:defRPr>
            </a:pPr>
            <a:r>
              <a:t>Timestamp Risk Scoring:</a:t>
            </a:r>
          </a:p>
          <a:p>
            <a:pPr lvl="1">
              <a:defRPr sz="2000">
                <a:solidFill>
                  <a:srgbClr val="141414"/>
                </a:solidFill>
                <a:latin typeface="Calibri"/>
              </a:defRPr>
            </a:pPr>
            <a:r>
              <a:t>Chunk-level inference for risky segments</a:t>
            </a:r>
          </a:p>
          <a:p>
            <a:pPr>
              <a:defRPr sz="2400" b="1">
                <a:solidFill>
                  <a:srgbClr val="141414"/>
                </a:solidFill>
                <a:latin typeface="Calibri"/>
              </a:defRPr>
            </a:pPr>
            <a:r>
              <a:t>NyayaMitra Legal AI:</a:t>
            </a:r>
          </a:p>
          <a:p>
            <a:pPr lvl="1">
              <a:defRPr sz="2000">
                <a:solidFill>
                  <a:srgbClr val="141414"/>
                </a:solidFill>
                <a:latin typeface="Calibri"/>
              </a:defRPr>
            </a:pPr>
            <a:r>
              <a:t>RAG pipeline with Vector Search + LLM generation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noFill/>
          <a:ln w="381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Tech Stack &amp; AWS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896112"/>
            <a:ext cx="12188952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FFFFFF"/>
                </a:solidFill>
                <a:latin typeface="Calibri"/>
              </a:defRPr>
            </a:pPr>
            <a:r>
              <a:t>AI for Bharat | Bharat Suraksha AI Suite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8813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41732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1414"/>
                </a:solidFill>
                <a:latin typeface="Calibri"/>
              </a:defRPr>
            </a:pPr>
            <a:r>
              <a:t>Frontend:</a:t>
            </a:r>
          </a:p>
          <a:p>
            <a:pPr lvl="1">
              <a:defRPr sz="2000">
                <a:solidFill>
                  <a:srgbClr val="141414"/>
                </a:solidFill>
                <a:latin typeface="Calibri"/>
              </a:defRPr>
            </a:pPr>
            <a:r>
              <a:t>React / Next.js, Tailwind CSS</a:t>
            </a:r>
          </a:p>
          <a:p>
            <a:pPr>
              <a:defRPr sz="2400" b="1">
                <a:solidFill>
                  <a:srgbClr val="141414"/>
                </a:solidFill>
                <a:latin typeface="Calibri"/>
              </a:defRPr>
            </a:pPr>
            <a:r>
              <a:t>Backend:</a:t>
            </a:r>
          </a:p>
          <a:p>
            <a:pPr lvl="1">
              <a:defRPr sz="2000">
                <a:solidFill>
                  <a:srgbClr val="141414"/>
                </a:solidFill>
                <a:latin typeface="Calibri"/>
              </a:defRPr>
            </a:pPr>
            <a:r>
              <a:t>Django / FastAPI, REST APIs</a:t>
            </a:r>
          </a:p>
          <a:p>
            <a:pPr>
              <a:defRPr sz="2400" b="1">
                <a:solidFill>
                  <a:srgbClr val="141414"/>
                </a:solidFill>
                <a:latin typeface="Calibri"/>
              </a:defRPr>
            </a:pPr>
            <a:r>
              <a:t>Database:</a:t>
            </a:r>
          </a:p>
          <a:p>
            <a:pPr lvl="1">
              <a:defRPr sz="2000">
                <a:solidFill>
                  <a:srgbClr val="141414"/>
                </a:solidFill>
                <a:latin typeface="Calibri"/>
              </a:defRPr>
            </a:pPr>
            <a:r>
              <a:t>MongoDB (reports, transcripts, logs)</a:t>
            </a:r>
          </a:p>
          <a:p>
            <a:pPr>
              <a:defRPr sz="2400" b="1">
                <a:solidFill>
                  <a:srgbClr val="141414"/>
                </a:solidFill>
                <a:latin typeface="Calibri"/>
              </a:defRPr>
            </a:pPr>
            <a:r>
              <a:t>Vector DB:</a:t>
            </a:r>
          </a:p>
          <a:p>
            <a:pPr lvl="1">
              <a:defRPr sz="2000">
                <a:solidFill>
                  <a:srgbClr val="141414"/>
                </a:solidFill>
                <a:latin typeface="Calibri"/>
              </a:defRPr>
            </a:pPr>
            <a:r>
              <a:t>FAISS / OpenSearch</a:t>
            </a:r>
          </a:p>
          <a:p>
            <a:pPr>
              <a:defRPr sz="2400" b="1">
                <a:solidFill>
                  <a:srgbClr val="141414"/>
                </a:solidFill>
                <a:latin typeface="Calibri"/>
              </a:defRPr>
            </a:pPr>
            <a:r>
              <a:t>AWS:</a:t>
            </a:r>
          </a:p>
          <a:p>
            <a:pPr lvl="1">
              <a:defRPr sz="2000">
                <a:solidFill>
                  <a:srgbClr val="141414"/>
                </a:solidFill>
                <a:latin typeface="Calibri"/>
              </a:defRPr>
            </a:pPr>
            <a:r>
              <a:t>S3, Lambda, SageMaker, API Gateway, CloudWatch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noFill/>
          <a:ln w="381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896112"/>
            <a:ext cx="12188952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FFFFFF"/>
                </a:solidFill>
                <a:latin typeface="Calibri"/>
              </a:defRPr>
            </a:pPr>
            <a:r>
              <a:t>AI for Bharat | Bharat Suraksha AI Suite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8813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41732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Deepfake Probability Score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Scam Probability Score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Suspicious timestamps (risky segment detection)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Transcript download + keyword extraction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Complaint draft generation (auto-filled templates)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NyayaMitra chatbot for legal help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Privacy-first design with optional auto-delete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noFill/>
          <a:ln w="381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Impact &amp; 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896112"/>
            <a:ext cx="12188952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FFFFFF"/>
                </a:solidFill>
                <a:latin typeface="Calibri"/>
              </a:defRPr>
            </a:pPr>
            <a:r>
              <a:t>AI for Bharat | Bharat Suraksha AI Suite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8813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41732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1414"/>
                </a:solidFill>
                <a:latin typeface="Calibri"/>
              </a:defRPr>
            </a:pPr>
            <a:r>
              <a:t>Impact:</a:t>
            </a:r>
          </a:p>
          <a:p>
            <a:pPr lvl="1">
              <a:defRPr sz="2000">
                <a:solidFill>
                  <a:srgbClr val="141414"/>
                </a:solidFill>
                <a:latin typeface="Calibri"/>
              </a:defRPr>
            </a:pPr>
            <a:r>
              <a:t>Prevents financial fraud</a:t>
            </a:r>
          </a:p>
          <a:p>
            <a:pPr lvl="1">
              <a:defRPr sz="2000">
                <a:solidFill>
                  <a:srgbClr val="141414"/>
                </a:solidFill>
                <a:latin typeface="Calibri"/>
              </a:defRPr>
            </a:pPr>
            <a:r>
              <a:t>Improves citizen awareness</a:t>
            </a:r>
          </a:p>
          <a:p>
            <a:pPr lvl="1">
              <a:defRPr sz="2000">
                <a:solidFill>
                  <a:srgbClr val="141414"/>
                </a:solidFill>
                <a:latin typeface="Calibri"/>
              </a:defRPr>
            </a:pPr>
            <a:r>
              <a:t>Enables faster legal action</a:t>
            </a:r>
          </a:p>
          <a:p>
            <a:pPr>
              <a:defRPr sz="2400" b="1">
                <a:solidFill>
                  <a:srgbClr val="141414"/>
                </a:solidFill>
                <a:latin typeface="Calibri"/>
              </a:defRPr>
            </a:pPr>
            <a:r>
              <a:t>Future:</a:t>
            </a:r>
          </a:p>
          <a:p>
            <a:pPr lvl="1">
              <a:defRPr sz="2000">
                <a:solidFill>
                  <a:srgbClr val="141414"/>
                </a:solidFill>
                <a:latin typeface="Calibri"/>
              </a:defRPr>
            </a:pPr>
            <a:r>
              <a:t>Mobile real-time call scanning</a:t>
            </a:r>
          </a:p>
          <a:p>
            <a:pPr lvl="1">
              <a:defRPr sz="2000">
                <a:solidFill>
                  <a:srgbClr val="141414"/>
                </a:solidFill>
                <a:latin typeface="Calibri"/>
              </a:defRPr>
            </a:pPr>
            <a:r>
              <a:t>WhatsApp bot integration</a:t>
            </a:r>
          </a:p>
          <a:p>
            <a:pPr lvl="1">
              <a:defRPr sz="2000">
                <a:solidFill>
                  <a:srgbClr val="141414"/>
                </a:solidFill>
                <a:latin typeface="Calibri"/>
              </a:defRPr>
            </a:pPr>
            <a:r>
              <a:t>Multi-language support</a:t>
            </a:r>
          </a:p>
          <a:p>
            <a:pPr lvl="1">
              <a:defRPr sz="2000">
                <a:solidFill>
                  <a:srgbClr val="141414"/>
                </a:solidFill>
                <a:latin typeface="Calibri"/>
              </a:defRPr>
            </a:pPr>
            <a:r>
              <a:t>Deepfake video detection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noFill/>
          <a:ln w="381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896112"/>
            <a:ext cx="12188952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FFFFFF"/>
                </a:solidFill>
                <a:latin typeface="Calibri"/>
              </a:defRPr>
            </a:pPr>
            <a:r>
              <a:t>AI for Bharat | Bharat Suraksha AI Suite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8813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41732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Bharat Suraksha AI Suite combines AI cybersecurity + legal assistance.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Detects deepfake voice scams and guides users for reporting.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Scalable Bharat-ready solution with AWS cloud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